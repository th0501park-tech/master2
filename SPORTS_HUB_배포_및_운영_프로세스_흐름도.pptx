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09728" cy="3108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Malgun Gothic"/>
              </a:defRPr>
            </a:pPr>
            <a:r>
              <a:t>END-TO-END DEPLOYMENT &amp; CLOUD OPERATIONS GUIDE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SPORTS HUB 배포 및 운영 프로세스 흐름도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  <a:latin typeface="Malgun Gothic"/>
              </a:defRPr>
            </a:pPr>
            <a:r>
              <a:t>로컬 소스 개발부터 GitHub 푸시, Render 호스트 서버 배포 및 대시보드 실시간 모니터링까지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937760"/>
            <a:ext cx="9875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프로젝트 저장소: https://github.com/th0501park-tech/master2  (Branch: main)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클라우드 호스트: Render.com Web Service  |  모니터링: https://dashboard.render.com/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작성 버전: v2.3.0 (스마트 캐시 &amp; LIVE 안전 판정 &amp; 중계 모달 고도화)  |  작성일: 2026-09-20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Malgun Gothic"/>
              </a:defRPr>
            </a:pPr>
            <a:r>
              <a:t>01. PIPELINE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엔드투엔드(E2E) 배포 및 운영 파이프라인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200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SPORTS HUB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254203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245059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72768"/>
            <a:ext cx="2359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22677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💻 소스 개발 및 로컬 검증</a:t>
            </a:r>
          </a:p>
          <a:p>
            <a:pPr>
              <a:spcBef>
                <a:spcPts val="1000"/>
              </a:spcBef>
              <a:defRPr sz="900">
                <a:solidFill>
                  <a:srgbClr val="1E293B"/>
                </a:solidFill>
                <a:latin typeface="Malgun Gothic"/>
              </a:defRPr>
            </a:pPr>
            <a:r>
              <a:t>• 로컬 개발 환경 구성</a:t>
            </a:r>
            <a:br/>
            <a:r>
              <a:t>• python run.py 서버 기동</a:t>
            </a:r>
            <a:br/>
            <a:r>
              <a:t>• 4대 스포츠 실시간 데이터 검증</a:t>
            </a:r>
            <a:br/>
            <a:r>
              <a:t>• 문자중계 모달 및 SPA 동작 확인</a:t>
            </a:r>
            <a:br/>
            <a:r>
              <a:t>• 캐시 파일 무결성 체크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508760"/>
            <a:ext cx="254203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2152" y="1554480"/>
            <a:ext cx="245059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572768"/>
            <a:ext cx="2359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057400"/>
            <a:ext cx="22677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🐙 GitHub 소스 푸시</a:t>
            </a:r>
          </a:p>
          <a:p>
            <a:pPr>
              <a:spcBef>
                <a:spcPts val="1000"/>
              </a:spcBef>
              <a:defRPr sz="900">
                <a:solidFill>
                  <a:srgbClr val="1E293B"/>
                </a:solidFill>
                <a:latin typeface="Malgun Gothic"/>
              </a:defRPr>
            </a:pPr>
            <a:r>
              <a:t>• Git 변경사항 스테이징(add)</a:t>
            </a:r>
            <a:br/>
            <a:r>
              <a:t>• 작업 단위 커밋(commit)</a:t>
            </a:r>
            <a:br/>
            <a:r>
              <a:t>• 원격 저장소 푸시(push origin main)</a:t>
            </a:r>
            <a:br/>
            <a:r>
              <a:t>• GitHub master2 브랜치 동기화</a:t>
            </a:r>
            <a:br/>
            <a:r>
              <a:t>• Render 자동 배포 Webhook 트리거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508760"/>
            <a:ext cx="254203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1554480"/>
            <a:ext cx="2450592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3" y="1572768"/>
            <a:ext cx="2359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057400"/>
            <a:ext cx="22677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☁️ Render 호스트 배포</a:t>
            </a:r>
          </a:p>
          <a:p>
            <a:pPr>
              <a:spcBef>
                <a:spcPts val="1000"/>
              </a:spcBef>
              <a:defRPr sz="900">
                <a:solidFill>
                  <a:srgbClr val="1E293B"/>
                </a:solidFill>
                <a:latin typeface="Malgun Gothic"/>
              </a:defRPr>
            </a:pPr>
            <a:r>
              <a:t>• Web Service 인스턴스 프로비저닝</a:t>
            </a:r>
            <a:br/>
            <a:r>
              <a:t>• pip install -r requirements.txt</a:t>
            </a:r>
            <a:br/>
            <a:r>
              <a:t>• Procfile / Start Command 실행</a:t>
            </a:r>
            <a:br/>
            <a:r>
              <a:t>• uvicorn app.main:app 기동</a:t>
            </a:r>
            <a:br/>
            <a:r>
              <a:t>• 글로벌 CDN &amp; HTTPS 자동 활성화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1508760"/>
            <a:ext cx="254203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554480"/>
            <a:ext cx="2450592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7696" y="1572768"/>
            <a:ext cx="2359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3416" y="2057400"/>
            <a:ext cx="22677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📊 Render 실시간 모니터링</a:t>
            </a:r>
          </a:p>
          <a:p>
            <a:pPr>
              <a:spcBef>
                <a:spcPts val="1000"/>
              </a:spcBef>
              <a:defRPr sz="900">
                <a:solidFill>
                  <a:srgbClr val="1E293B"/>
                </a:solidFill>
                <a:latin typeface="Malgun Gothic"/>
              </a:defRPr>
            </a:pPr>
            <a:r>
              <a:t>• dashboard.render.com 접속</a:t>
            </a:r>
            <a:br/>
            <a:r>
              <a:t>• 실시간 Logs 스트리밍 확인</a:t>
            </a:r>
            <a:br/>
            <a:r>
              <a:t>• CPU / Memory 사용률 모니터링</a:t>
            </a:r>
            <a:br/>
            <a:r>
              <a:t>• HTTP Status(2xx/4xx/5xx) 관제</a:t>
            </a:r>
            <a:br/>
            <a:r>
              <a:t>• 수동 배포 및 캐시 초기화 관리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Malgun Gothic"/>
              </a:defRPr>
            </a:pPr>
            <a:r>
              <a:t>02. LOCAL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Phase 1: 소스 구조 분석 및 로컬 개발/검증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200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SPORTS HUB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📂 프로젝트 소스 핵심 구조 및 파일 역할</a:t>
            </a:r>
          </a:p>
          <a:p>
            <a:pPr>
              <a:spcBef>
                <a:spcPts val="800"/>
              </a:spcBef>
              <a:defRPr sz="850">
                <a:solidFill>
                  <a:srgbClr val="1E293B"/>
                </a:solidFill>
                <a:latin typeface="Consolas"/>
              </a:defRPr>
            </a:pPr>
            <a:r>
              <a:t>• app/main.py : FastAPI 엔트리포인트, 라우트 바인딩 및 정적 파일 마운트</a:t>
            </a:r>
            <a:br/>
            <a:r>
              <a:t>• app/services/ : 4대 스포츠 실시간 데이터 수집 및 비즈니스 로직</a:t>
            </a:r>
            <a:br/>
            <a:r>
              <a:t>   - kbo_service.py : KBO 스코어보드, 경기상태, 선발/결정투수, 순위</a:t>
            </a:r>
            <a:br/>
            <a:r>
              <a:t>   - kleague_service.py : 네이버 K리그 API + 공식포털 연동, 라이브 분</a:t>
            </a:r>
            <a:br/>
            <a:r>
              <a:t>   - overseas_soccer_service.py : ESPN API 연동, KST 시간 보정</a:t>
            </a:r>
            <a:br/>
            <a:r>
              <a:t>   - mlb_service.py : MLB Stats API, 실시간 이닝, 투수 결정기록</a:t>
            </a:r>
            <a:br/>
            <a:r>
              <a:t>• app/templates/index.html : SSR 대시보드 템플릿 및 문자중계 모달</a:t>
            </a:r>
            <a:br/>
            <a:r>
              <a:t>• app/static/js/main.js : SPA 필터링, 모달 팝업, Facade 비디오 제어</a:t>
            </a:r>
            <a:br/>
            <a:r>
              <a:t>• Procfile &amp; render.yaml : Render.com 배포 정의 인프라 설정</a:t>
            </a:r>
            <a:br/>
            <a:r>
              <a:t>• requirements.txt : FastAPI, Uvicorn, Requests, Jinja2 의존성 명세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4592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⚙️ 로컬 서버 실행 및 사전 검증 절차</a:t>
            </a:r>
          </a:p>
          <a:p>
            <a:pPr>
              <a:spcBef>
                <a:spcPts val="800"/>
              </a:spcBef>
              <a:defRPr sz="850">
                <a:solidFill>
                  <a:srgbClr val="1E293B"/>
                </a:solidFill>
                <a:latin typeface="Consolas"/>
              </a:defRPr>
            </a:pPr>
            <a:r>
              <a:t>1. 가상환경 및 의존성 패키지 설치 확인:</a:t>
            </a:r>
            <a:br/>
            <a:r>
              <a:t>   $ pip install -r requirements.txt</a:t>
            </a:r>
            <a:br/>
            <a:br/>
            <a:r>
              <a:t>2. 로컬 개발 서버 실행 (run.py):</a:t>
            </a:r>
            <a:br/>
            <a:r>
              <a:t>   $ python run.py</a:t>
            </a:r>
            <a:br/>
            <a:r>
              <a:t>   → INFO: Uvicorn running on http://127.0.0.1:8000 (Press CTRL+C to quit)</a:t>
            </a:r>
            <a:br/>
            <a:br/>
            <a:r>
              <a:t>3. 브라우저 접속 및 주요 기능 사전 테스트:</a:t>
            </a:r>
            <a:br/>
            <a:r>
              <a:t>   • http://127.0.0.1:8000 접속 확인</a:t>
            </a:r>
            <a:br/>
            <a:r>
              <a:t>   • [🔴 LIVE] 필터 클릭 시 실시간 경기 정상 노출 여부</a:t>
            </a:r>
            <a:br/>
            <a:r>
              <a:t>   • LIVE 경기 하단 [⚡ 실시간 중계확인] 클릭 → 네이버 문자중계 모달 검증</a:t>
            </a:r>
            <a:br/>
            <a:r>
              <a:t>   • 마이팀(선호구단) 별표 클릭 시 최상단 고정 및 유지 확인</a:t>
            </a:r>
            <a:br/>
            <a:br/>
            <a:r>
              <a:t>4. 로컬 캐시 무결성 검증:</a:t>
            </a:r>
            <a:br/>
            <a:r>
              <a:t>   • cache/ 폴더 내 4개 JSON 파일 정상 생성 및 데이터 필드 확인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Malgun Gothic"/>
              </a:defRPr>
            </a:pPr>
            <a:r>
              <a:t>03. GITHUB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Phase 2: Git 버전 관리 및 GitHub 원격 저장소 배포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200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SPORTS HUB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2064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1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1️⃣ Git 상태 확인 및 스테이징 (Stage)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  <a:latin typeface="Consolas"/>
              </a:defRPr>
            </a:pPr>
            <a:r>
              <a:t>git status &amp; git add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  <a:latin typeface="Malgun Gothic"/>
              </a:defRPr>
            </a:pPr>
            <a:r>
              <a:t>• 작업 디렉토리의 변경된 파일 목록 확인:</a:t>
            </a:r>
            <a:br/>
            <a:r>
              <a:t>   $ git status</a:t>
            </a:r>
            <a:br/>
            <a:r>
              <a:t>• 수정된 소스, 템플릿, 스크립트, 산출물 문서 전체 스테이징:</a:t>
            </a:r>
            <a:br/>
            <a:r>
              <a:t>   $ git add .</a:t>
            </a:r>
            <a:br/>
            <a:r>
              <a:t>• 불필요한 임시 파일(__pycache__, .DS_Store)은 .gitignore로 자동 제외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08760"/>
            <a:ext cx="512064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4591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2️⃣ 의미 있는 커밋 생성 (Commit)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  <a:latin typeface="Consolas"/>
              </a:defRPr>
            </a:pPr>
            <a:r>
              <a:t>git commit -m "message"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  <a:latin typeface="Malgun Gothic"/>
              </a:defRPr>
            </a:pPr>
            <a:r>
              <a:t>• 기능 단위 및 표준 커밋 컨벤션(Conventional Commits) 준수:</a:t>
            </a:r>
            <a:br/>
            <a:r>
              <a:t>   $ git commit -m "feat: 실시간 중계확인 모달 및 K리그 라이브 동기화"</a:t>
            </a:r>
            <a:br/>
            <a:r>
              <a:t>   $ git commit -m "docs: 산출물 문서 및 배포 프로세스 PPT 업데이트"</a:t>
            </a:r>
            <a:br/>
            <a:r>
              <a:t>• 커밋 메시지에 명확한 변경 사유와 범위 기재하여 이력 추적성 확보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79"/>
            <a:ext cx="512064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3️⃣ 원격 메인 브랜치 푸시 (Push)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  <a:latin typeface="Consolas"/>
              </a:defRPr>
            </a:pPr>
            <a:r>
              <a:t>git push origin main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  <a:latin typeface="Malgun Gothic"/>
              </a:defRPr>
            </a:pPr>
            <a:r>
              <a:t>• 원격 GitHub 저장소(th0501park-tech/master2)로 최종 반영:</a:t>
            </a:r>
            <a:br/>
            <a:r>
              <a:t>   $ git push origin main</a:t>
            </a:r>
            <a:br/>
            <a:r>
              <a:t>• 푸시 성공 시 GitHub 저장소 커밋 해시(SHA) 생성</a:t>
            </a:r>
            <a:br/>
            <a:r>
              <a:t>• 원격 저장소의 main 브랜치가 갱신되면서 Render 배포 트리거 자동 발송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40479"/>
            <a:ext cx="512064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97763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4️⃣ GitHub 저장소 확인 및 Webhook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  <a:latin typeface="Consolas"/>
              </a:defRPr>
            </a:pPr>
            <a:r>
              <a:t>https://github.com/.../master2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  <a:latin typeface="Malgun Gothic"/>
              </a:defRPr>
            </a:pPr>
            <a:r>
              <a:t>• 웹 브라우저로 저장소 방문하여 최신 커밋 반영 상태 확인</a:t>
            </a:r>
            <a:br/>
            <a:r>
              <a:t>• GitHub Repository Settings → Webhooks 항목에서 Render 연동 상태 확인</a:t>
            </a:r>
            <a:br/>
            <a:r>
              <a:t>• push 이벤트 발생 시 Render.com으로 Payload가 자동 전송되어 빌드 시작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Malgun Gothic"/>
              </a:defRPr>
            </a:pPr>
            <a:r>
              <a:t>04. RENDER DEPLOY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Phase 3: Render.com 호스트 서버 배포 설정 및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200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SPORTS HUB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🚀 Render.com Web Service 등록 4단계</a:t>
            </a:r>
          </a:p>
          <a:p>
            <a:pPr>
              <a:spcBef>
                <a:spcPts val="800"/>
              </a:spcBef>
              <a:defRPr sz="880">
                <a:solidFill>
                  <a:srgbClr val="1E293B"/>
                </a:solidFill>
                <a:latin typeface="Malgun Gothic"/>
              </a:defRPr>
            </a:pPr>
            <a:r>
              <a:t>Step 1: Render 가입 및 대시보드 진입</a:t>
            </a:r>
            <a:br/>
            <a:r>
              <a:t>• https://render.com 접속 → GitHub 계정으로 간편 로그인</a:t>
            </a:r>
            <a:br/>
            <a:r>
              <a:t>• 우측 상단 [+ New] 버튼 클릭 → [Web Service] 선택</a:t>
            </a:r>
            <a:br/>
            <a:br/>
            <a:r>
              <a:t>Step 2: GitHub Repository 연결 (Connect)</a:t>
            </a:r>
            <a:br/>
            <a:r>
              <a:t>• [Connect a repository] 목록에서 'master2' 저장소 선택</a:t>
            </a:r>
            <a:br/>
            <a:r>
              <a:t>• 권한 미부여 시 [Configure access on GitHub]로 저장소 승인</a:t>
            </a:r>
            <a:br/>
            <a:br/>
            <a:r>
              <a:t>Step 3: 기본 배포 사양 구성</a:t>
            </a:r>
            <a:br/>
            <a:r>
              <a:t>• Name: sports-hub-dashboard (원하는 서비스명 입력)</a:t>
            </a:r>
            <a:br/>
            <a:r>
              <a:t>• Region: Singapore (국내 사용자 접속 시 지연 최소화)</a:t>
            </a:r>
            <a:br/>
            <a:r>
              <a:t>• Branch: main (배포 기준 브랜치 지정)</a:t>
            </a:r>
            <a:br/>
            <a:r>
              <a:t>• Runtime: Python 3</a:t>
            </a:r>
            <a:br/>
            <a:br/>
            <a:r>
              <a:t>Step 4: 인스턴스 플랜 선택 및 생성 완료</a:t>
            </a:r>
            <a:br/>
            <a:r>
              <a:t>• Instance Type: Free ($0/month) 또는 Starter</a:t>
            </a:r>
            <a:br/>
            <a:r>
              <a:t>• [Create Web Service] 버튼 클릭하여 초기 빌드 개시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4592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⚡ 빌드 &amp; 실행 커맨드 및 Procfile 명세</a:t>
            </a:r>
          </a:p>
          <a:p>
            <a:pPr>
              <a:spcBef>
                <a:spcPts val="800"/>
              </a:spcBef>
              <a:defRPr sz="819">
                <a:solidFill>
                  <a:srgbClr val="1E293B"/>
                </a:solidFill>
                <a:latin typeface="Consolas"/>
              </a:defRPr>
            </a:pPr>
            <a:r>
              <a:t>■ Build Command (빌드 시 의존성 패키지 설치):</a:t>
            </a:r>
            <a:br/>
            <a:r>
              <a:t>   pip install -r requirements.txt</a:t>
            </a:r>
            <a:br/>
            <a:r>
              <a:t>   • FastAPI, Uvicorn, Jinja2, Requests 등 핵심 라이브러리 설치</a:t>
            </a:r>
            <a:br/>
            <a:br/>
            <a:r>
              <a:t>■ Start Command (웹 애플리케이션 기동):</a:t>
            </a:r>
            <a:br/>
            <a:r>
              <a:t>   uvicorn app.main:app --host 0.0.0.0 --port $PORT</a:t>
            </a:r>
            <a:br/>
            <a:r>
              <a:t>   • Render가 동적으로 할당하는 $PORT 환경변수에 바인딩</a:t>
            </a:r>
            <a:br/>
            <a:br/>
            <a:r>
              <a:t>■ Procfile 지원 (프로젝트 루트에 기포함):</a:t>
            </a:r>
            <a:br/>
            <a:r>
              <a:t>   web: uvicorn app.main:app --host 0.0.0.0 --port $PORT</a:t>
            </a:r>
            <a:br/>
            <a:r>
              <a:t>   • Start Command 생략 시 Procfile에 정의된 web 프로세스 자동 실행</a:t>
            </a:r>
            <a:br/>
            <a:br/>
            <a:r>
              <a:t>■ render.yaml (Infrastructure as Code 지원):</a:t>
            </a:r>
            <a:br/>
            <a:r>
              <a:t>   services:</a:t>
            </a:r>
            <a:br/>
            <a:r>
              <a:t>     - type: web</a:t>
            </a:r>
            <a:br/>
            <a:r>
              <a:t>       name: sports-hub</a:t>
            </a:r>
            <a:br/>
            <a:r>
              <a:t>       env: python</a:t>
            </a:r>
            <a:br/>
            <a:r>
              <a:t>       plan: free</a:t>
            </a:r>
            <a:br/>
            <a:r>
              <a:t>       buildCommand: pip install -r requirements.txt</a:t>
            </a:r>
            <a:br/>
            <a:r>
              <a:t>       startCommand: uvicorn app.main:app --host 0.0.0.0 --port $PORT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Malgun Gothic"/>
              </a:defRPr>
            </a:pPr>
            <a:r>
              <a:t>05. BUILD &amp; RELEASE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Phase 4: 자동 빌드 및 릴리즈 수명주기 (Lifecycle)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200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SPORTS HUB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254203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245059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72768"/>
            <a:ext cx="2359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Step 1. Webhook 감지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22677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Malgun Gothic"/>
              </a:defRPr>
            </a:pPr>
            <a:r>
              <a:t>GitHub Push 이벤트 수신</a:t>
            </a:r>
          </a:p>
          <a:p>
            <a:pPr>
              <a:spcBef>
                <a:spcPts val="1000"/>
              </a:spcBef>
              <a:defRPr sz="900">
                <a:solidFill>
                  <a:srgbClr val="1E293B"/>
                </a:solidFill>
                <a:latin typeface="Malgun Gothic"/>
              </a:defRPr>
            </a:pPr>
            <a:r>
              <a:t>• 로컬에서 git push origin main 실행</a:t>
            </a:r>
            <a:br/>
            <a:r>
              <a:t>• GitHub이 Render Webhook API로 신규 커밋 페이로드 전송</a:t>
            </a:r>
            <a:br/>
            <a:r>
              <a:t>• Render 대시보드 상태: 'Deploy in progress'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508760"/>
            <a:ext cx="254203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2152" y="1554480"/>
            <a:ext cx="245059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572768"/>
            <a:ext cx="2359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Step 2. 컨테이너 빌드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057400"/>
            <a:ext cx="22677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Malgun Gothic"/>
              </a:defRPr>
            </a:pPr>
            <a:r>
              <a:t>환경 구축 및 패키지 설치</a:t>
            </a:r>
          </a:p>
          <a:p>
            <a:pPr>
              <a:spcBef>
                <a:spcPts val="1000"/>
              </a:spcBef>
              <a:defRPr sz="900">
                <a:solidFill>
                  <a:srgbClr val="1E293B"/>
                </a:solidFill>
                <a:latin typeface="Malgun Gothic"/>
              </a:defRPr>
            </a:pPr>
            <a:r>
              <a:t>• 격리된 Linux 컨테이너 환경 프로비저닝</a:t>
            </a:r>
            <a:br/>
            <a:r>
              <a:t>• Python 3.10+ 런타임 환경 활성화</a:t>
            </a:r>
            <a:br/>
            <a:r>
              <a:t>• pip install -r requirements.txt 실행 및 캐시 빌드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508760"/>
            <a:ext cx="254203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1554480"/>
            <a:ext cx="245059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3" y="1572768"/>
            <a:ext cx="2359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Step 3. 서버 헬스체크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057400"/>
            <a:ext cx="22677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Malgun Gothic"/>
              </a:defRPr>
            </a:pPr>
            <a:r>
              <a:t>Uvicorn 기동 및 포트 바인딩</a:t>
            </a:r>
          </a:p>
          <a:p>
            <a:pPr>
              <a:spcBef>
                <a:spcPts val="1000"/>
              </a:spcBef>
              <a:defRPr sz="900">
                <a:solidFill>
                  <a:srgbClr val="1E293B"/>
                </a:solidFill>
                <a:latin typeface="Malgun Gothic"/>
              </a:defRPr>
            </a:pPr>
            <a:r>
              <a:t>• uvicorn app.main:app --host 0.0.0.0 --port $PORT 실행</a:t>
            </a:r>
            <a:br/>
            <a:r>
              <a:t>• 백엔드 캐시 엔진 및 라우터 초기화</a:t>
            </a:r>
            <a:br/>
            <a:r>
              <a:t>• Render 로드밸런서의 포트 응답 헬스체크 통과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1508760"/>
            <a:ext cx="254203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554480"/>
            <a:ext cx="245059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7696" y="1572768"/>
            <a:ext cx="2359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Step 4. 트래픽 무중단 전환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3416" y="2057400"/>
            <a:ext cx="22677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Malgun Gothic"/>
              </a:defRPr>
            </a:pPr>
            <a:r>
              <a:t>Live 배포 완료 및 SSL 적용</a:t>
            </a:r>
          </a:p>
          <a:p>
            <a:pPr>
              <a:spcBef>
                <a:spcPts val="1000"/>
              </a:spcBef>
              <a:defRPr sz="900">
                <a:solidFill>
                  <a:srgbClr val="1E293B"/>
                </a:solidFill>
                <a:latin typeface="Malgun Gothic"/>
              </a:defRPr>
            </a:pPr>
            <a:r>
              <a:t>• 새 컨테이너로 실시간 트래픽 무중단 라우팅 전환</a:t>
            </a:r>
            <a:br/>
            <a:r>
              <a:t>• 무료 자동 갱신 Let's Encrypt SSL/TLS 인증서 적용</a:t>
            </a:r>
            <a:br/>
            <a:r>
              <a:t>• 최종 서비스 상태: 'Live' (온라인 정상 서비스)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Malgun Gothic"/>
              </a:defRPr>
            </a:pPr>
            <a:r>
              <a:t>06. DASHBOARD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Phase 5: https://dashboard.render.com/ 에서 내 페이지 모니터링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200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SPORTS HUB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2064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1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📜 1. Logs (실시간 스트리밍 로그)</a:t>
            </a:r>
          </a:p>
          <a:p>
            <a:pPr>
              <a:spcBef>
                <a:spcPts val="200"/>
              </a:spcBef>
              <a:defRPr sz="850" b="1">
                <a:solidFill>
                  <a:srgbClr val="64748B"/>
                </a:solidFill>
                <a:latin typeface="Consolas"/>
              </a:defRPr>
            </a:pPr>
            <a:r>
              <a:t>https://dashboard.render.com/web/.../logs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  <a:latin typeface="Malgun Gothic"/>
              </a:defRPr>
            </a:pPr>
            <a:r>
              <a:t>• Uvicorn 서버 상태: 'Application startup complete.', 'Uvicorn running on ...'</a:t>
            </a:r>
            <a:br/>
            <a:r>
              <a:t>• HTTP 요청 추적: IP, Method, URI, 응답코드(200 OK), 처리속도 실시간 출력</a:t>
            </a:r>
            <a:br/>
            <a:r>
              <a:t>• 캐시 갱신 확인: 백엔드 크롤러의 데이터 갱신 및 에러 로그 실시간 감지</a:t>
            </a:r>
            <a:br/>
            <a:r>
              <a:t>• 필터 및 검색: 검색창을 통해 'ERROR', '404', 'Started' 키워드 즉시 필터링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08760"/>
            <a:ext cx="512064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4591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📈 2. Metrics (서버 리소스 &amp; 성능 지표)</a:t>
            </a:r>
          </a:p>
          <a:p>
            <a:pPr>
              <a:spcBef>
                <a:spcPts val="200"/>
              </a:spcBef>
              <a:defRPr sz="850" b="1">
                <a:solidFill>
                  <a:srgbClr val="64748B"/>
                </a:solidFill>
                <a:latin typeface="Consolas"/>
              </a:defRPr>
            </a:pPr>
            <a:r>
              <a:t>https://dashboard.render.com/web/.../metrics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  <a:latin typeface="Malgun Gothic"/>
              </a:defRPr>
            </a:pPr>
            <a:r>
              <a:t>• CPU Usage: CPU 사용률 그래프 실시간 모니터링 (과도한 연산 및 스파이크 감지)</a:t>
            </a:r>
            <a:br/>
            <a:r>
              <a:t>• Memory Usage: RAM 점유율 추적 (Free Tier 512MB 한도 초과 여부 감시)</a:t>
            </a:r>
            <a:br/>
            <a:r>
              <a:t>• HTTP Status Codes: 2xx(정상), 4xx(클라이언트오류), 5xx(서버장애) 발생 비율</a:t>
            </a:r>
            <a:br/>
            <a:r>
              <a:t>• Response Times: P50 / P95 / P99 응답 지연 시간 그래프 제공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79"/>
            <a:ext cx="512064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🕒 3. Events (배포 및 인프라 이벤트 이력)</a:t>
            </a:r>
          </a:p>
          <a:p>
            <a:pPr>
              <a:spcBef>
                <a:spcPts val="200"/>
              </a:spcBef>
              <a:defRPr sz="850" b="1">
                <a:solidFill>
                  <a:srgbClr val="64748B"/>
                </a:solidFill>
                <a:latin typeface="Consolas"/>
              </a:defRPr>
            </a:pPr>
            <a:r>
              <a:t>https://dashboard.render.com/web/.../events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  <a:latin typeface="Malgun Gothic"/>
              </a:defRPr>
            </a:pPr>
            <a:r>
              <a:t>• Git 커밋별 배포 이력: 커밋 해시(Commit SHA), 작성자, 변경 내용 표시</a:t>
            </a:r>
            <a:br/>
            <a:r>
              <a:t>• 배포 라이프사이클 이력: Deploy started → Build successful → Service live</a:t>
            </a:r>
            <a:br/>
            <a:r>
              <a:t>• 서비스 재시작(Restart) 및 슬립 모드(Instance spun down) 타임스탬프 기록</a:t>
            </a:r>
            <a:br/>
            <a:r>
              <a:t>• 배포 실패(Deploy failed) 시 상세 원인 파악 및 이전 버전 원클릭 롤백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40479"/>
            <a:ext cx="512064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97763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⚙️ 4. Environment &amp; Settings</a:t>
            </a:r>
          </a:p>
          <a:p>
            <a:pPr>
              <a:spcBef>
                <a:spcPts val="200"/>
              </a:spcBef>
              <a:defRPr sz="850" b="1">
                <a:solidFill>
                  <a:srgbClr val="64748B"/>
                </a:solidFill>
                <a:latin typeface="Consolas"/>
              </a:defRPr>
            </a:pPr>
            <a:r>
              <a:t>https://dashboard.render.com/web/.../settings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  <a:latin typeface="Malgun Gothic"/>
              </a:defRPr>
            </a:pPr>
            <a:r>
              <a:t>• Environment Variables: HOST, PORT, LOG_LEVEL 등 런타임 환경변수 즉시 수정</a:t>
            </a:r>
            <a:br/>
            <a:r>
              <a:t>• Auto Deploy 토글: GitHub Push 시 자동 배포 On/Off 제어</a:t>
            </a:r>
            <a:br/>
            <a:r>
              <a:t>• Custom Domains: 보유 도메인 연결 및 CNAME 레코드/자동 SSL 인증서 관리</a:t>
            </a:r>
            <a:br/>
            <a:r>
              <a:t>• Suspend / Delete: 서비스 임시 중단 및 영구 삭제 제어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Malgun Gothic"/>
              </a:defRPr>
            </a:pPr>
            <a:r>
              <a:t>07. OPERATIONS &amp; TROUBLESHOOTING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Phase 6: 실전 운영 팁, 슬립 모드 대응 및 문제 해결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200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SPORTS HUB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2064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1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💤 Render Free Tier 슬립 모드 대응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  <a:latin typeface="Malgun Gothic"/>
              </a:defRPr>
            </a:pPr>
            <a:r>
              <a:t>• 특징: 15분 동안 외부 HTTP 트래픽이 없으면 인스턴스가 슬립(Spin-down) 상태 전환</a:t>
            </a:r>
            <a:br/>
            <a:r>
              <a:t>• 영향: 슬립 후 첫 접속 시 서버 기동(Spin-up)에 약 30~50초의 대기 지연 발생</a:t>
            </a:r>
            <a:br/>
            <a:r>
              <a:t>• 상시 유지 팁 (Keep-Alive Ping):</a:t>
            </a:r>
            <a:br/>
            <a:r>
              <a:t>   1. 무료 모니터링 도구(UptimeRobot, Cron-job.org) 가입</a:t>
            </a:r>
            <a:br/>
            <a:r>
              <a:t>   2. Render 서비스 URL(https://&lt;app-name&gt;.onrender.com)을 10분 간격 HTTP 핑 등록</a:t>
            </a:r>
            <a:br/>
            <a:r>
              <a:t>   3. 24시간 슬립 없이 즉각적인 0.5초 응답 속도 유지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08760"/>
            <a:ext cx="512064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4591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🔄 수동 재배포 및 캐시 초기화 (Clear Cache)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  <a:latin typeface="Malgun Gothic"/>
              </a:defRPr>
            </a:pPr>
            <a:r>
              <a:t>• 상황: requirements.txt 패키지 충돌 또는 기존 빌드 캐시로 인한 오류 발생 시</a:t>
            </a:r>
            <a:br/>
            <a:r>
              <a:t>• 해결 절차:</a:t>
            </a:r>
            <a:br/>
            <a:r>
              <a:t>   1. Render 대시보드 진입 → 대상 Web Service 선택</a:t>
            </a:r>
            <a:br/>
            <a:r>
              <a:t>   2. 우측 상단 [Manual Deploy] 드롭다운 버튼 클릭</a:t>
            </a:r>
            <a:br/>
            <a:r>
              <a:t>   3. [Clear build cache &amp; deploy] 선택 실행</a:t>
            </a:r>
            <a:br/>
            <a:r>
              <a:t>   4. 기존 캐시를 완전히 삭제하고 깨끗한 환경에서 신규 빌드 진행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79"/>
            <a:ext cx="512064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⏪ 이전 안정 버전 원클릭 롤백 (Rollback)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  <a:latin typeface="Malgun Gothic"/>
              </a:defRPr>
            </a:pPr>
            <a:r>
              <a:t>• 상황: 신규 기능 푸시 후 예기치 못한 프로덕션 런타임 오류 발생 시</a:t>
            </a:r>
            <a:br/>
            <a:r>
              <a:t>• 해결 절차:</a:t>
            </a:r>
            <a:br/>
            <a:r>
              <a:t>   1. 대시보드 좌측 메뉴에서 [Events] 또는 [Deploys] 클릭</a:t>
            </a:r>
            <a:br/>
            <a:r>
              <a:t>   2. 이전에 정상 작동했던 커밋 항목의 우측 [···] 메뉴 클릭</a:t>
            </a:r>
            <a:br/>
            <a:r>
              <a:t>   3. [Rollback to this deploy] 클릭</a:t>
            </a:r>
            <a:br/>
            <a:r>
              <a:t>   4. 1초 이내에 이전 안정 버전으로 즉각 복구되어 무장애 연속성 확보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40479"/>
            <a:ext cx="512064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97763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🔍 배포 에러(Build Failed) 시 체크리스트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  <a:latin typeface="Malgun Gothic"/>
              </a:defRPr>
            </a:pPr>
            <a:r>
              <a:t>• 1. requirements.txt 오타 또는 미지원 버전 명시 여부 점검</a:t>
            </a:r>
            <a:br/>
            <a:r>
              <a:t>• 2. Start Command 포트 변수 점검 (--port $PORT 가 정확히 기재되었는지)</a:t>
            </a:r>
            <a:br/>
            <a:r>
              <a:t>• 3. Python 버전 호환성 점검 (Render 기본 Python 3.10+ 환경)</a:t>
            </a:r>
            <a:br/>
            <a:r>
              <a:t>• 4. 로컬 환경에서 python run.py가 오류 없이 실행되는지 재확인</a:t>
            </a:r>
            <a:br/>
            <a:r>
              <a:t>• 5. .gitignore에 필수 코드 파일이 실수로 포함되어 누락되었는지 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Malgun Gothic"/>
              </a:defRPr>
            </a:pPr>
            <a:r>
              <a:t>08. CHECKLIST &amp;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전체 배포 &amp; 모니터링 종합 체크리스트 및 가이드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200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SPORTS HUB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6984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📋 단계별 배포 및 모니터링 검증 체크리스트</a:t>
            </a:r>
          </a:p>
          <a:p>
            <a:pPr>
              <a:spcBef>
                <a:spcPts val="800"/>
              </a:spcBef>
              <a:defRPr sz="850">
                <a:solidFill>
                  <a:srgbClr val="1E293B"/>
                </a:solidFill>
                <a:latin typeface="Consolas"/>
              </a:defRPr>
            </a:pPr>
            <a:r>
              <a:t>구분          단계 및 수행 작업                            확인 방법 및 기대 결과                                 상태</a:t>
            </a:r>
            <a:br/>
            <a: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br/>
            <a:r>
              <a:t>로컬 검증     1. 로컬 가상환경 및 서버 기동                python run.py 실행 시 http://127.0.0.1:8000 정상 기동  [ 완료 ]</a:t>
            </a:r>
            <a:br/>
            <a:r>
              <a:t>로컬 검증     2. 신규 기능 (문자중계/K리그 라이브) 점검    LIVE 경기 클릭 시 네이버 문자중계 모달 정상 팝업       [ 완료 ]</a:t>
            </a:r>
            <a:br/>
            <a:r>
              <a:t>Git 형상관리  3. 변경 코드 및 산출물 문서 스테이징         git add . 후 git status로 추적 파일 확인               [ 완료 ]</a:t>
            </a:r>
            <a:br/>
            <a:r>
              <a:t>Git 형상관리  4. 커밋 생성 및 원격 메인 푸시               git commit &amp; git push origin main 성공                 [ 완료 ]</a:t>
            </a:r>
            <a:br/>
            <a:r>
              <a:t>Render 배포   5. Render Web Service Webhook 트리거         dashboard.render.com 에서 'Deploy in progress' 확인    [ 대기/자동 ]</a:t>
            </a:r>
            <a:br/>
            <a:r>
              <a:t>Render 배포   6. 의존성 빌드 및 Uvicorn 기동               pip install 성공 및 Uvicorn Running 포트 바인딩 확인   [ 대기/자동 ]</a:t>
            </a:r>
            <a:br/>
            <a:r>
              <a:t>대시보드 관제 7. Logs 탭 실시간 로그 스트리밍 확인         GET 200 OK 응답 및 에러 로그 부재 확인                 [ 상시 모니터링 ]</a:t>
            </a:r>
            <a:br/>
            <a:r>
              <a:t>대시보드 관제 8. Metrics 탭 CPU/RAM 지표 점검              RAM 사용량 &lt; 512MB 및 정상 CPU 점유율 확인             [ 상시 모니터링 ]</a:t>
            </a:r>
            <a:br/>
            <a:r>
              <a:t>실서비스 검증 9. 프로덕션 도메인 접속 테스트               https://&lt;app&gt;.onrender.com 브라우저 접속 및 기능 점검  [ 완료 ]</a:t>
            </a:r>
            <a:br/>
            <a:r>
              <a:t>무중단 운영   10. 슬립 방지 UptimeRobot 설정               10분 주기 핑 등록으로 상시 응답 속도 확보              [ 권장 설정 ]</a:t>
            </a:r>
            <a:br/>
            <a: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br/>
            <a:r>
              <a:t>★ 핵심 요약: 소스 수정 후 'git push origin main' 한 줄로 클라우드 자동 배포가 완료되며,</a:t>
            </a:r>
            <a:br/>
            <a:r>
              <a:t>   dashboard.render.com의 Logs 및 Metrics 탭에서 실시간 가동 상태를 24시간 완벽하게 관제할 수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