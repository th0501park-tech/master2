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0" y="1645920"/>
            <a:ext cx="109728" cy="29260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554480"/>
            <a:ext cx="9601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60A5FA"/>
                </a:solidFill>
                <a:latin typeface="Malgun Gothic"/>
              </a:defRPr>
            </a:pPr>
            <a:r>
              <a:t>SPORTS ALL-IN-ONE HUB DASHBOARD</a:t>
            </a:r>
          </a:p>
          <a:p>
            <a:pPr>
              <a:spcBef>
                <a:spcPts val="1200"/>
              </a:spcBef>
              <a:defRPr sz="3200" b="1">
                <a:solidFill>
                  <a:srgbClr val="FFFFFF"/>
                </a:solidFill>
                <a:latin typeface="Malgun Gothic"/>
              </a:defRPr>
            </a:pPr>
            <a:r>
              <a:t>SPORTS HUB 시스템 설계 및 프로그램 명세서</a:t>
            </a:r>
          </a:p>
          <a:p>
            <a:pPr>
              <a:spcBef>
                <a:spcPts val="1400"/>
              </a:spcBef>
              <a:defRPr sz="1600">
                <a:solidFill>
                  <a:srgbClr val="E2E8F0"/>
                </a:solidFill>
                <a:latin typeface="Malgun Gothic"/>
              </a:defRPr>
            </a:pPr>
            <a:r>
              <a:t>실시간 스포츠 순위 · 경기결과 스코어보드 · 소스구성도 · 프로세스 흐름도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937760"/>
            <a:ext cx="96012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Malgun Gothic"/>
              </a:defRPr>
            </a:pPr>
            <a:r>
              <a:t>• 대상 종목: KBO 한국프로야구  |  K리그 1·2  |  해외축구 5대리그  |  MLB 메이저리그</a:t>
            </a:r>
          </a:p>
          <a:p>
            <a:pPr>
              <a:spcBef>
                <a:spcPts val="400"/>
              </a:spcBef>
              <a:defRPr sz="1100">
                <a:solidFill>
                  <a:srgbClr val="94A3B8"/>
                </a:solidFill>
                <a:latin typeface="Malgun Gothic"/>
              </a:defRPr>
            </a:pPr>
            <a:r>
              <a:t>• 기술 스택: Python 3.14 · FastAPI · Jinja2 · Vanilla JS · TailwindCSS · REST API Caching Engine</a:t>
            </a:r>
          </a:p>
          <a:p>
            <a:pPr>
              <a:spcBef>
                <a:spcPts val="400"/>
              </a:spcBef>
              <a:defRPr sz="1100">
                <a:solidFill>
                  <a:srgbClr val="94A3B8"/>
                </a:solidFill>
                <a:latin typeface="Malgun Gothic"/>
              </a:defRPr>
            </a:pPr>
            <a:r>
              <a:t>• 문서 버전: v2.1.0  |  작성일: 2026-09-19  |  저장소: https://github.com/th0501park-tech/master2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Malgun Gothic"/>
              </a:defRPr>
            </a:pPr>
            <a:r>
              <a:t>01. PROJECT OVERVIEW</a:t>
            </a:r>
          </a:p>
          <a:p>
            <a:pPr>
              <a:spcBef>
                <a:spcPts val="400"/>
              </a:spcBef>
              <a:defRPr sz="2200" b="1">
                <a:solidFill>
                  <a:srgbClr val="0F172A"/>
                </a:solidFill>
                <a:latin typeface="Malgun Gothic"/>
              </a:defRPr>
            </a:pPr>
            <a:r>
              <a:t>프로젝트 개요 및 핵심 아키텍처 특징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6400800"/>
            <a:ext cx="1069848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Malgun Gothic"/>
              </a:defRPr>
            </a:pPr>
            <a:r>
              <a:t>SPORTS HUB v2.1.0  |  실시간 스포츠 종합 대시보드 시스템 명세서  |  Confidential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338328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3736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2563EB"/>
                </a:solidFill>
                <a:latin typeface="Malgun Gothic"/>
              </a:defRPr>
            </a:pPr>
            <a:r>
              <a:t>⚾ 4대 프로 스포츠 통합 제공</a:t>
            </a:r>
          </a:p>
          <a:p>
            <a:pPr>
              <a:spcBef>
                <a:spcPts val="400"/>
              </a:spcBef>
              <a:defRPr sz="1000" b="1">
                <a:solidFill>
                  <a:srgbClr val="64748B"/>
                </a:solidFill>
                <a:latin typeface="Malgun Gothic"/>
              </a:defRPr>
            </a:pPr>
            <a:r>
              <a:t>KBO, K리그, 해외축구, MLB 단일 플랫폼 통합</a:t>
            </a:r>
          </a:p>
          <a:p>
            <a:pPr>
              <a:spcBef>
                <a:spcPts val="1200"/>
              </a:spcBef>
              <a:defRPr sz="1000">
                <a:solidFill>
                  <a:srgbClr val="0F172A"/>
                </a:solidFill>
                <a:latin typeface="Malgun Gothic"/>
              </a:defRPr>
            </a:pPr>
            <a:r>
              <a:t>• KBO / MLB: 10개 구단 및 30개 구단 순위, 타자/투수 개인기록 리더보드 통합</a:t>
            </a:r>
            <a:br/>
            <a:r>
              <a:t>• K리그 1·2: 승강제 반영 전 구단 순위 및 득점/도움/공격포인트 순위</a:t>
            </a:r>
            <a:br/>
            <a:r>
              <a:t>• 해외축구: EPL, 라리가, 분데스리가, UCL, UEL 5개 리그 탭 완벽 지원</a:t>
            </a:r>
            <a:br/>
            <a:r>
              <a:t>• 반응형 SPA: 새로고침 없는 원클릭 종목/서브리그 즉시 전환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554480"/>
            <a:ext cx="338328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73736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2563EB"/>
                </a:solidFill>
                <a:latin typeface="Malgun Gothic"/>
              </a:defRPr>
            </a:pPr>
            <a:r>
              <a:t>🔥 상단 스코어보드 &amp; 실시간 LIVE</a:t>
            </a:r>
          </a:p>
          <a:p>
            <a:pPr>
              <a:spcBef>
                <a:spcPts val="400"/>
              </a:spcBef>
              <a:defRPr sz="1000" b="1">
                <a:solidFill>
                  <a:srgbClr val="64748B"/>
                </a:solidFill>
                <a:latin typeface="Malgun Gothic"/>
              </a:defRPr>
            </a:pPr>
            <a:r>
              <a:t>사용자 중심의 상하 레이아웃 배치 전환 완료</a:t>
            </a:r>
          </a:p>
          <a:p>
            <a:pPr>
              <a:spcBef>
                <a:spcPts val="1200"/>
              </a:spcBef>
              <a:defRPr sz="1000">
                <a:solidFill>
                  <a:srgbClr val="0F172A"/>
                </a:solidFill>
                <a:latin typeface="Malgun Gothic"/>
              </a:defRPr>
            </a:pPr>
            <a:r>
              <a:t>• 레이아웃 혁신: 최상단에 경기 결과 및 스코어보드 우선 노출</a:t>
            </a:r>
            <a:br/>
            <a:r>
              <a:t>• 야구(KBO/MLB): 실시간 LIVE 이닝, 승·패·세이브 결정투수, 선발투수 예고</a:t>
            </a:r>
            <a:br/>
            <a:r>
              <a:t>• 축구(K리그/해외축구): 금주 기준 LIVE(전·후반 분), 금주 예정 시간, 지난주 종료 결과</a:t>
            </a:r>
            <a:br/>
            <a:r>
              <a:t>• 상태 필터 칩: [전체], [🔴 LIVE], [최근 결과], [금주/내일 예정] 원클릭 필터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554480"/>
            <a:ext cx="338328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73736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2563EB"/>
                </a:solidFill>
                <a:latin typeface="Malgun Gothic"/>
              </a:defRPr>
            </a:pPr>
            <a:r>
              <a:t>⚡ 고성능 캐싱 &amp; 영상 지연로딩</a:t>
            </a:r>
          </a:p>
          <a:p>
            <a:pPr>
              <a:spcBef>
                <a:spcPts val="400"/>
              </a:spcBef>
              <a:defRPr sz="1000" b="1">
                <a:solidFill>
                  <a:srgbClr val="64748B"/>
                </a:solidFill>
                <a:latin typeface="Malgun Gothic"/>
              </a:defRPr>
            </a:pPr>
            <a:r>
              <a:t>0.5초 이내 초고속 응답 &amp; 마이팀 개인화</a:t>
            </a:r>
          </a:p>
          <a:p>
            <a:pPr>
              <a:spcBef>
                <a:spcPts val="1200"/>
              </a:spcBef>
              <a:defRPr sz="1000">
                <a:solidFill>
                  <a:srgbClr val="0F172A"/>
                </a:solidFill>
                <a:latin typeface="Malgun Gothic"/>
              </a:defRPr>
            </a:pPr>
            <a:r>
              <a:t>• 로컬 파일 캐시: 5~15분 주기 TTL 캐싱으로 외부 API 호출 쿼터 및 지연 방지</a:t>
            </a:r>
            <a:br/>
            <a:r>
              <a:t>• Facade 패턴: 무거운 Iframe 대신 고화질 포스터를 선로딩하여 트래픽 90% 절감</a:t>
            </a:r>
            <a:br/>
            <a:r>
              <a:t>• 마이팀(선호 구단): 로컬스토리지 연동으로 응원팀 경기 최상단 정렬 및 골드 강조</a:t>
            </a:r>
            <a:br/>
            <a:r>
              <a:t>• 다크/라이트 모드: 시스템 설정 자동 감지 및 사용자 수동 토글 지원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Malgun Gothic"/>
              </a:defRPr>
            </a:pPr>
            <a:r>
              <a:t>02. SYSTEM ARCHITECTURE</a:t>
            </a:r>
          </a:p>
          <a:p>
            <a:pPr>
              <a:spcBef>
                <a:spcPts val="400"/>
              </a:spcBef>
              <a:defRPr sz="2200" b="1">
                <a:solidFill>
                  <a:srgbClr val="0F172A"/>
                </a:solidFill>
                <a:latin typeface="Malgun Gothic"/>
              </a:defRPr>
            </a:pPr>
            <a:r>
              <a:t>시스템 아키텍처 및 디렉토리 소스 구성도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6400800"/>
            <a:ext cx="1069848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Malgun Gothic"/>
              </a:defRPr>
            </a:pPr>
            <a:r>
              <a:t>SPORTS HUB v2.1.0  |  실시간 스포츠 종합 대시보드 시스템 명세서  |  Confidential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12064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3736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Malgun Gothic"/>
              </a:defRPr>
            </a:pPr>
            <a:r>
              <a:t>🏛️ 4-Tier Layered Architecture</a:t>
            </a:r>
          </a:p>
          <a:p>
            <a:pPr>
              <a:spcBef>
                <a:spcPts val="800"/>
              </a:spcBef>
              <a:defRPr sz="1000" b="1">
                <a:solidFill>
                  <a:srgbClr val="2563EB"/>
                </a:solidFill>
                <a:latin typeface="Malgun Gothic"/>
              </a:defRPr>
            </a:pPr>
            <a:r>
              <a:t>1. Presentation Layer (클라이언트)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HTML5, Jinja2 SSR Templates (app/templates/index.html)</a:t>
            </a:r>
            <a:br/>
            <a:r>
              <a:t>• Vanilla JS 클라이언트 인터랙션 (app/static/js/main.js)</a:t>
            </a:r>
            <a:br/>
            <a:r>
              <a:t>• TailwindCSS CDN &amp; Custom Styles (app/static/css/style.css)</a:t>
            </a:r>
          </a:p>
          <a:p>
            <a:pPr>
              <a:spcBef>
                <a:spcPts val="800"/>
              </a:spcBef>
              <a:defRPr sz="1000" b="1">
                <a:solidFill>
                  <a:srgbClr val="2563EB"/>
                </a:solidFill>
                <a:latin typeface="Malgun Gothic"/>
              </a:defRPr>
            </a:pPr>
            <a:r>
              <a:t>2. Application Layer (웹 서버)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ASGI 기반 고성능 웹 서버 (run.py / Uvicorn)</a:t>
            </a:r>
            <a:br/>
            <a:r>
              <a:t>• FastAPI 메인 컨트롤러 (app/main.py) - 라우팅 및 데이터 통합</a:t>
            </a:r>
          </a:p>
          <a:p>
            <a:pPr>
              <a:spcBef>
                <a:spcPts val="800"/>
              </a:spcBef>
              <a:defRPr sz="1000" b="1">
                <a:solidFill>
                  <a:srgbClr val="2563EB"/>
                </a:solidFill>
                <a:latin typeface="Malgun Gothic"/>
              </a:defRPr>
            </a:pPr>
            <a:r>
              <a:t>3. Business Layer (스포츠 데이터 엔진)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KBO 프로야구 서비스 (app/services/kbo_service.py)</a:t>
            </a:r>
            <a:br/>
            <a:r>
              <a:t>• K리그 축구 서비스 (app/services/kleague_service.py)</a:t>
            </a:r>
            <a:br/>
            <a:r>
              <a:t>• MLB 메이저리그 서비스 (app/services/mlb_service.py)</a:t>
            </a:r>
            <a:br/>
            <a:r>
              <a:t>• 해외축구 5대리그 서비스 (app/services/overseas_soccer_service.py)</a:t>
            </a:r>
          </a:p>
          <a:p>
            <a:pPr>
              <a:spcBef>
                <a:spcPts val="800"/>
              </a:spcBef>
              <a:defRPr sz="1000" b="1">
                <a:solidFill>
                  <a:srgbClr val="2563EB"/>
                </a:solidFill>
                <a:latin typeface="Malgun Gothic"/>
              </a:defRPr>
            </a:pPr>
            <a:r>
              <a:t>4. Persistence &amp; External Integration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로컬 파일 캐싱 엔진 (cache/*.json, TTL 관리)</a:t>
            </a:r>
            <a:br/>
            <a:r>
              <a:t>• 외부 데이터 API: 네이버 스포츠, MLB Stats, ESPN, K리그 포털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554480"/>
            <a:ext cx="530352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0" y="173736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Malgun Gothic"/>
              </a:defRPr>
            </a:pPr>
            <a:r>
              <a:t>📂 프로젝트 소스 구성도 (Source Directory Tree)</a:t>
            </a:r>
          </a:p>
          <a:p>
            <a:pPr>
              <a:spcBef>
                <a:spcPts val="800"/>
              </a:spcBef>
              <a:defRPr sz="850">
                <a:solidFill>
                  <a:srgbClr val="1E293B"/>
                </a:solidFill>
                <a:latin typeface="Consolas"/>
              </a:defRPr>
            </a:pPr>
            <a:r>
              <a:t>WEB_SPORTS/</a:t>
            </a:r>
            <a:br/>
            <a:r>
              <a:t>├── run.py                     # [진입점] Uvicorn 웹서버 기동 스크립트</a:t>
            </a:r>
            <a:br/>
            <a:r>
              <a:t>├── requirements.txt           # [의존성] FastAPI, Uvicorn, Requests, BS4</a:t>
            </a:r>
            <a:br/>
            <a:r>
              <a:t>├── Procfile / render.yaml     # [배포] Render.com 클라우드 호스팅 설정</a:t>
            </a:r>
            <a:br/>
            <a:r>
              <a:t>├── app/</a:t>
            </a:r>
            <a:br/>
            <a:r>
              <a:t>│   ├── main.py                # [컨트롤러] FastAPI 인스턴스 및 루트 라우트</a:t>
            </a:r>
            <a:br/>
            <a:r>
              <a:t>│   ├── services/              # [도메인 서비스] 4대 스포츠 데이터 수집 엔진</a:t>
            </a:r>
            <a:br/>
            <a:r>
              <a:t>│   │   ├── kbo_service.py     #  - KBO 실시간 이닝/스코어, 결정투수, 순위</a:t>
            </a:r>
            <a:br/>
            <a:r>
              <a:t>│   │   ├── kleague_service.py #  - K리그 금주예정/최근경기, 순위, 득점</a:t>
            </a:r>
            <a:br/>
            <a:r>
              <a:t>│   │   ├── mlb_service.py     #  - MLB 실시간 이닝, 승/패/세이브 투수, 순위</a:t>
            </a:r>
            <a:br/>
            <a:r>
              <a:t>│   │   └── overseas_soccer_service.py # - 해외축구 5대리그, 클락시간</a:t>
            </a:r>
            <a:br/>
            <a:r>
              <a:t>│   ├── templates/</a:t>
            </a:r>
            <a:br/>
            <a:r>
              <a:t>│   │   └── index.html         # [뷰] 메인 반응형 대시보드 템플릿 (SSR)</a:t>
            </a:r>
            <a:br/>
            <a:r>
              <a:t>│   └── static/</a:t>
            </a:r>
            <a:br/>
            <a:r>
              <a:t>│       ├── js/main.js         # [스크립트] SPA 탭, 필터 칩, 마이팀, Facade</a:t>
            </a:r>
            <a:br/>
            <a:r>
              <a:t>│       └── css/style.css      # [스타일] 경기 상태 칩, 다크모드, 애니메이션</a:t>
            </a:r>
            <a:br/>
            <a:r>
              <a:t>└── cache/                     # [영속성 캐시] 로컬 JSON 캐시 파일 저장소</a:t>
            </a:r>
            <a:br/>
            <a:r>
              <a:t>    ├── kbo_data.json          #  - KBO 최신 캐시 데이터</a:t>
            </a:r>
            <a:br/>
            <a:r>
              <a:t>    ├── kleague_data.json      #  - K리그 최신 캐시 데이터</a:t>
            </a:r>
            <a:br/>
            <a:r>
              <a:t>    ├── mlb_data.json          #  - MLB 최신 캐시 데이터</a:t>
            </a:r>
            <a:br/>
            <a:r>
              <a:t>    └── overseas_soccer_data.json # - 해외축구 최신 캐시 데이터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Malgun Gothic"/>
              </a:defRPr>
            </a:pPr>
            <a:r>
              <a:t>03. BACKEND SPECIFICATIONS</a:t>
            </a:r>
          </a:p>
          <a:p>
            <a:pPr>
              <a:spcBef>
                <a:spcPts val="400"/>
              </a:spcBef>
              <a:defRPr sz="2200" b="1">
                <a:solidFill>
                  <a:srgbClr val="0F172A"/>
                </a:solidFill>
                <a:latin typeface="Malgun Gothic"/>
              </a:defRPr>
            </a:pPr>
            <a:r>
              <a:t>백엔드 프로그램 명세서 (Backend Services)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6400800"/>
            <a:ext cx="1069848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Malgun Gothic"/>
              </a:defRPr>
            </a:pPr>
            <a:r>
              <a:t>SPORTS HUB v2.1.0  |  실시간 스포츠 종합 대시보드 시스템 명세서  |  Confidential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12064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91639"/>
            <a:ext cx="475488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⚾ KBO 프로야구 서비스</a:t>
            </a:r>
          </a:p>
          <a:p>
            <a:pPr>
              <a:spcBef>
                <a:spcPts val="200"/>
              </a:spcBef>
              <a:defRPr sz="900" b="1">
                <a:solidFill>
                  <a:srgbClr val="64748B"/>
                </a:solidFill>
                <a:latin typeface="Consolas"/>
              </a:defRPr>
            </a:pPr>
            <a:r>
              <a:t>kbo_service.py (약 650 라인)</a:t>
            </a:r>
          </a:p>
          <a:p>
            <a:pPr>
              <a:spcBef>
                <a:spcPts val="6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네이버 스포츠 KBO API (api-gw.sports.naver.com)</a:t>
            </a:r>
            <a:br/>
            <a:r>
              <a:t>• 실시간 LIVE: status_code(STARTED) 기반 당일 진행중 이닝/현재투수</a:t>
            </a:r>
            <a:br/>
            <a:r>
              <a:t>• 최근 경기 결과: 승리투수(winPitcherName), 패전투수(losePitcherName)</a:t>
            </a:r>
            <a:br/>
            <a:r>
              <a:t>• 예정 경기: 오늘/내일 선발투수 예고(homeStarterName, awayStarterName)</a:t>
            </a:r>
            <a:br/>
            <a:r>
              <a:t>• 팀순위 및 타자/투수 리더보드 수집 및 로컬 캐싱 (kbo_data.json)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554480"/>
            <a:ext cx="512064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0" y="1691639"/>
            <a:ext cx="475488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🧢 MLB 메이저리그 서비스</a:t>
            </a:r>
          </a:p>
          <a:p>
            <a:pPr>
              <a:spcBef>
                <a:spcPts val="200"/>
              </a:spcBef>
              <a:defRPr sz="900" b="1">
                <a:solidFill>
                  <a:srgbClr val="64748B"/>
                </a:solidFill>
                <a:latin typeface="Consolas"/>
              </a:defRPr>
            </a:pPr>
            <a:r>
              <a:t>mlb_service.py (약 450 라인)</a:t>
            </a:r>
          </a:p>
          <a:p>
            <a:pPr>
              <a:spcBef>
                <a:spcPts val="6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MLB Stats 공식 API (statsapi.mlb.com)</a:t>
            </a:r>
            <a:br/>
            <a:r>
              <a:t>• hydrate 파라미터 적용: linescore, decisions, probablePitcher 일괄 취득</a:t>
            </a:r>
            <a:br/>
            <a:r>
              <a:t>• 결정투수 명세: 승리투수(W), 패전투수(L), 세이브투수(S) 완벽 추출</a:t>
            </a:r>
            <a:br/>
            <a:r>
              <a:t>• 실시간 이닝 및 선발 매치업 예고 제공</a:t>
            </a:r>
            <a:br/>
            <a:r>
              <a:t>• AL/NL 30개 구단 디비전 순위 및 개인기록 수집 (mlb_data.json)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886200"/>
            <a:ext cx="512064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023360"/>
            <a:ext cx="475488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⚽ K리그 (K1 · K2) 서비스</a:t>
            </a:r>
          </a:p>
          <a:p>
            <a:pPr>
              <a:spcBef>
                <a:spcPts val="200"/>
              </a:spcBef>
              <a:defRPr sz="900" b="1">
                <a:solidFill>
                  <a:srgbClr val="64748B"/>
                </a:solidFill>
                <a:latin typeface="Consolas"/>
              </a:defRPr>
            </a:pPr>
            <a:r>
              <a:t>kleague_service.py (약 850 라인)</a:t>
            </a:r>
          </a:p>
          <a:p>
            <a:pPr>
              <a:spcBef>
                <a:spcPts val="6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K리그 공식 데이터 포털 (getScheduleList.do, teamRank.do)</a:t>
            </a:r>
            <a:br/>
            <a:r>
              <a:t>• 주차별 필터링: 금주 일요일까지 예정된 경기만 '금주 예정' 표기</a:t>
            </a:r>
            <a:br/>
            <a:r>
              <a:t>• 지난 경기 필터링: 지난주 월요일 이후 종료된 경기만 최신순 노출</a:t>
            </a:r>
            <a:br/>
            <a:r>
              <a:t>• 실시간 경기 진행시간: 전반(1H), 후반(2H), 하프타임(HT) 분기</a:t>
            </a:r>
            <a:br/>
            <a:r>
              <a:t>• K1/K2 25개 구단 공식 엠블럼 및 득점/도움/무실점 순위 제공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3886200"/>
            <a:ext cx="512064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4023360"/>
            <a:ext cx="475488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🌍 해외축구 5대리그 서비스</a:t>
            </a:r>
          </a:p>
          <a:p>
            <a:pPr>
              <a:spcBef>
                <a:spcPts val="200"/>
              </a:spcBef>
              <a:defRPr sz="900" b="1">
                <a:solidFill>
                  <a:srgbClr val="64748B"/>
                </a:solidFill>
                <a:latin typeface="Consolas"/>
              </a:defRPr>
            </a:pPr>
            <a:r>
              <a:t>overseas_soccer_service.py (약 680 라인)</a:t>
            </a:r>
          </a:p>
          <a:p>
            <a:pPr>
              <a:spcBef>
                <a:spcPts val="6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ESPN Soccer Scoreboard &amp; Statistics API (site.web.api.espn.com)</a:t>
            </a:r>
            <a:br/>
            <a:r>
              <a:t>• 대상 리그: EPL, 라리가, 분데스리가, UCL, UEL</a:t>
            </a:r>
            <a:br/>
            <a:r>
              <a:t>• 캘린더 기반 동적 일정 수집: 금주 주말 예정 경기 + 지난주 종료 경기</a:t>
            </a:r>
            <a:br/>
            <a:r>
              <a:t>• 실시간 분 정보: displayClock (35', 72') 및 하이라이트 영상 추출</a:t>
            </a:r>
            <a:br/>
            <a:r>
              <a:t>• 구단명 한국어 자동 매핑 딕셔너리 (TEAM_KR_NAMES)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Malgun Gothic"/>
              </a:defRPr>
            </a:pPr>
            <a:r>
              <a:t>04. FRONTEND SPECIFICATIONS</a:t>
            </a:r>
          </a:p>
          <a:p>
            <a:pPr>
              <a:spcBef>
                <a:spcPts val="400"/>
              </a:spcBef>
              <a:defRPr sz="2200" b="1">
                <a:solidFill>
                  <a:srgbClr val="0F172A"/>
                </a:solidFill>
                <a:latin typeface="Malgun Gothic"/>
              </a:defRPr>
            </a:pPr>
            <a:r>
              <a:t>프론트엔드 프로그램 명세서 (Frontend &amp; SPA)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6400800"/>
            <a:ext cx="1069848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Malgun Gothic"/>
              </a:defRPr>
            </a:pPr>
            <a:r>
              <a:t>SPORTS HUB v2.1.0  |  실시간 스포츠 종합 대시보드 시스템 명세서  |  Confidential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12064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91639"/>
            <a:ext cx="475488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🎛️ 경기 상태별 원클릭 필터 칩</a:t>
            </a:r>
          </a:p>
          <a:p>
            <a:pPr>
              <a:spcBef>
                <a:spcPts val="200"/>
              </a:spcBef>
              <a:defRPr sz="900" b="1">
                <a:solidFill>
                  <a:srgbClr val="64748B"/>
                </a:solidFill>
                <a:latin typeface="Consolas"/>
              </a:defRPr>
            </a:pPr>
            <a:r>
              <a:t>main.js (setMatchFilter, filterMatchesByStatus)</a:t>
            </a:r>
          </a:p>
          <a:p>
            <a:pPr>
              <a:spcBef>
                <a:spcPts val="6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4종 필터 칩: [전체], [🔴 LIVE], [최근 결과], [금주/내일 예정]</a:t>
            </a:r>
            <a:br/>
            <a:r>
              <a:t>• 클릭 시 새로고침 없이 해당 상태의 경기 카드만 즉시 필터링 렌더링</a:t>
            </a:r>
            <a:br/>
            <a:r>
              <a:t>• LIVE 상태 시 실시간 깜빡임 펄스 뱃지 &amp; 실시간 투수/이닝 표기</a:t>
            </a:r>
            <a:br/>
            <a:r>
              <a:t>• .match-filter-chip.active 스타일 적용 및 라이트/다크모드 완벽 대응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554480"/>
            <a:ext cx="512064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0" y="1691639"/>
            <a:ext cx="475488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⭐ 마이팀(선호 구단) 개인화</a:t>
            </a:r>
          </a:p>
          <a:p>
            <a:pPr>
              <a:spcBef>
                <a:spcPts val="200"/>
              </a:spcBef>
              <a:defRPr sz="900" b="1">
                <a:solidFill>
                  <a:srgbClr val="64748B"/>
                </a:solidFill>
                <a:latin typeface="Consolas"/>
              </a:defRPr>
            </a:pPr>
            <a:r>
              <a:t>main.js (toggleFavoriteTeam, updateMyTeamBanner)</a:t>
            </a:r>
          </a:p>
          <a:p>
            <a:pPr>
              <a:spcBef>
                <a:spcPts val="6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경기 카드 및 순위표의 ★ 별표 클릭 시 선호 구단으로 즉시 지정</a:t>
            </a:r>
            <a:br/>
            <a:r>
              <a:t>• localStorage 연동: 브라우저 재방문 시에도 선호 구단 상태 영구 보존</a:t>
            </a:r>
            <a:br/>
            <a:r>
              <a:t>• 선호 구단 등록 시 해당 구단 경기 최상단 우선 정렬 &amp; 골드 링 테두리 강조</a:t>
            </a:r>
            <a:br/>
            <a:r>
              <a:t>• [선호 구단 경기만 보기] 원클릭 필터 제공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886200"/>
            <a:ext cx="512064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023360"/>
            <a:ext cx="475488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🎬 Facade 기반 영상 지연 로딩</a:t>
            </a:r>
          </a:p>
          <a:p>
            <a:pPr>
              <a:spcBef>
                <a:spcPts val="200"/>
              </a:spcBef>
              <a:defRPr sz="900" b="1">
                <a:solidFill>
                  <a:srgbClr val="64748B"/>
                </a:solidFill>
                <a:latin typeface="Consolas"/>
              </a:defRPr>
            </a:pPr>
            <a:r>
              <a:t>main.js (Facade Player &amp; Iframe On-Demand)</a:t>
            </a:r>
          </a:p>
          <a:p>
            <a:pPr>
              <a:spcBef>
                <a:spcPts val="6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기존: 무거운 YouTube Iframe 수십 개 동시 로딩으로 브라우저 멈춤 발생</a:t>
            </a:r>
            <a:br/>
            <a:r>
              <a:t>• 개선: Facade 기법 적용으로 고화질 썸네일 포스터 및 재생 버튼만 초기 렌더링</a:t>
            </a:r>
            <a:br/>
            <a:r>
              <a:t>• 사용자가 [재생] 또는 카드 클릭 시에만 해당 Iframe을 동적으로 삽입하여 재생</a:t>
            </a:r>
            <a:br/>
            <a:r>
              <a:t>• 초기 페이지 로딩 속도 0.5초 이내 유지 및 네트워크 데이터 90% 절감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3886200"/>
            <a:ext cx="512064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4023360"/>
            <a:ext cx="475488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📱 반응형 레이아웃 &amp; 테마</a:t>
            </a:r>
          </a:p>
          <a:p>
            <a:pPr>
              <a:spcBef>
                <a:spcPts val="200"/>
              </a:spcBef>
              <a:defRPr sz="900" b="1">
                <a:solidFill>
                  <a:srgbClr val="64748B"/>
                </a:solidFill>
                <a:latin typeface="Consolas"/>
              </a:defRPr>
            </a:pPr>
            <a:r>
              <a:t>index.html &amp; style.css (TailwindCSS Grid)</a:t>
            </a:r>
          </a:p>
          <a:p>
            <a:pPr>
              <a:spcBef>
                <a:spcPts val="6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상단: 실시간 스코어보드 그리드 (모바일 1열, 태블릿 2열, 데스크톱 3열)</a:t>
            </a:r>
            <a:br/>
            <a:r>
              <a:t>• 하단: 대형 공식 하이라이트 영상 플레이어 + 우측 썸네일 재생 목록</a:t>
            </a:r>
            <a:br/>
            <a:r>
              <a:t>• 다크모드: 시스템 환경 자동 감지 및 GNB 버튼을 통한 즉시 전환</a:t>
            </a:r>
            <a:br/>
            <a:r>
              <a:t>• 모바일 최적화: 가로 스크롤 테이블 및 터치 인터랙션 완벽 대응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Malgun Gothic"/>
              </a:defRPr>
            </a:pPr>
            <a:r>
              <a:t>05. PROCESS FLOW</a:t>
            </a:r>
          </a:p>
          <a:p>
            <a:pPr>
              <a:spcBef>
                <a:spcPts val="400"/>
              </a:spcBef>
              <a:defRPr sz="2200" b="1">
                <a:solidFill>
                  <a:srgbClr val="0F172A"/>
                </a:solidFill>
                <a:latin typeface="Malgun Gothic"/>
              </a:defRPr>
            </a:pPr>
            <a:r>
              <a:t>엔드투엔드 데이터 파이프라인 및 프로세스 흐름도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6400800"/>
            <a:ext cx="1069848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Malgun Gothic"/>
              </a:defRPr>
            </a:pPr>
            <a:r>
              <a:t>SPORTS HUB v2.1.0  |  실시간 스포츠 종합 대시보드 시스템 명세서  |  Confidential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2029968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691640"/>
            <a:ext cx="1755648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Malgun Gothic"/>
              </a:defRPr>
            </a:pPr>
            <a:r>
              <a:t>Step 1</a:t>
            </a:r>
          </a:p>
          <a:p>
            <a:pPr>
              <a:spcBef>
                <a:spcPts val="400"/>
              </a:spcBef>
              <a:defRPr sz="1100" b="1">
                <a:solidFill>
                  <a:srgbClr val="0F172A"/>
                </a:solidFill>
                <a:latin typeface="Malgun Gothic"/>
              </a:defRPr>
            </a:pPr>
            <a:r>
              <a:t>서버 초기화 및 캐시 로드</a:t>
            </a:r>
          </a:p>
          <a:p>
            <a:pPr>
              <a:spcBef>
                <a:spcPts val="1000"/>
              </a:spcBef>
              <a:defRPr sz="850">
                <a:solidFill>
                  <a:srgbClr val="0F172A"/>
                </a:solidFill>
                <a:latin typeface="Malgun Gothic"/>
              </a:defRPr>
            </a:pPr>
            <a:r>
              <a:t>• run.py 실행 시 Uvicorn ASGI 기동</a:t>
            </a:r>
            <a:br/>
            <a:r>
              <a:t>• cache/ 폴더 내 4대 스포츠 데이터 검증</a:t>
            </a:r>
            <a:br/>
            <a:r>
              <a:t>• 캐시 부재 시 백그라운드 크롤링 수행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07791" y="1554480"/>
            <a:ext cx="2029968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44951" y="1691640"/>
            <a:ext cx="1755648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Malgun Gothic"/>
              </a:defRPr>
            </a:pPr>
            <a:r>
              <a:t>Step 2</a:t>
            </a:r>
          </a:p>
          <a:p>
            <a:pPr>
              <a:spcBef>
                <a:spcPts val="400"/>
              </a:spcBef>
              <a:defRPr sz="1100" b="1">
                <a:solidFill>
                  <a:srgbClr val="0F172A"/>
                </a:solidFill>
                <a:latin typeface="Malgun Gothic"/>
              </a:defRPr>
            </a:pPr>
            <a:r>
              <a:t>사용자 브라우저 접속 (SSR)</a:t>
            </a:r>
          </a:p>
          <a:p>
            <a:pPr>
              <a:spcBef>
                <a:spcPts val="1000"/>
              </a:spcBef>
              <a:defRPr sz="850">
                <a:solidFill>
                  <a:srgbClr val="0F172A"/>
                </a:solidFill>
                <a:latin typeface="Malgun Gothic"/>
              </a:defRPr>
            </a:pPr>
            <a:r>
              <a:t>• GET / 요청 수신 시 FastAPI 컨트롤러 작동</a:t>
            </a:r>
            <a:br/>
            <a:r>
              <a:t>• 캐시된 KBO/K리그/해외축구/MLB 데이터 바인딩</a:t>
            </a:r>
            <a:br/>
            <a:r>
              <a:t>• 상단 스코어보드/하단 영상 초기 HTML 전송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84064" y="1554480"/>
            <a:ext cx="2029968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21224" y="1691640"/>
            <a:ext cx="1755648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Malgun Gothic"/>
              </a:defRPr>
            </a:pPr>
            <a:r>
              <a:t>Step 3</a:t>
            </a:r>
          </a:p>
          <a:p>
            <a:pPr>
              <a:spcBef>
                <a:spcPts val="400"/>
              </a:spcBef>
              <a:defRPr sz="1100" b="1">
                <a:solidFill>
                  <a:srgbClr val="0F172A"/>
                </a:solidFill>
                <a:latin typeface="Malgun Gothic"/>
              </a:defRPr>
            </a:pPr>
            <a:r>
              <a:t>클라이언트 데이터 Hydration</a:t>
            </a:r>
          </a:p>
          <a:p>
            <a:pPr>
              <a:spcBef>
                <a:spcPts val="1000"/>
              </a:spcBef>
              <a:defRPr sz="850">
                <a:solidFill>
                  <a:srgbClr val="0F172A"/>
                </a:solidFill>
                <a:latin typeface="Malgun Gothic"/>
              </a:defRPr>
            </a:pPr>
            <a:r>
              <a:t>• window.INITIAL_DATA에 전체 데이터 적재</a:t>
            </a:r>
            <a:br/>
            <a:r>
              <a:t>• localStorage에서 마이팀 구단 및 테마 복원</a:t>
            </a:r>
            <a:br/>
            <a:r>
              <a:t>• 마이팀 경기 최상단 우선 배치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60336" y="1554480"/>
            <a:ext cx="2029968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97496" y="1691640"/>
            <a:ext cx="1755648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Malgun Gothic"/>
              </a:defRPr>
            </a:pPr>
            <a:r>
              <a:t>Step 4</a:t>
            </a:r>
          </a:p>
          <a:p>
            <a:pPr>
              <a:spcBef>
                <a:spcPts val="400"/>
              </a:spcBef>
              <a:defRPr sz="1100" b="1">
                <a:solidFill>
                  <a:srgbClr val="0F172A"/>
                </a:solidFill>
                <a:latin typeface="Malgun Gothic"/>
              </a:defRPr>
            </a:pPr>
            <a:r>
              <a:t>동적 상태 필터링 (SPA)</a:t>
            </a:r>
          </a:p>
          <a:p>
            <a:pPr>
              <a:spcBef>
                <a:spcPts val="1000"/>
              </a:spcBef>
              <a:defRPr sz="850">
                <a:solidFill>
                  <a:srgbClr val="0F172A"/>
                </a:solidFill>
                <a:latin typeface="Malgun Gothic"/>
              </a:defRPr>
            </a:pPr>
            <a:r>
              <a:t>• [🔴 LIVE], [최근 결과], [금주 예정] 칩 클릭</a:t>
            </a:r>
            <a:br/>
            <a:r>
              <a:t>• status 플래그에 따라 카드 실시간 재배치</a:t>
            </a:r>
            <a:br/>
            <a:r>
              <a:t>• 해당 경기 없을 시 안내 메시지 렌더링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436608" y="1554480"/>
            <a:ext cx="2029968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73768" y="1691640"/>
            <a:ext cx="1755648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Malgun Gothic"/>
              </a:defRPr>
            </a:pPr>
            <a:r>
              <a:t>Step 5</a:t>
            </a:r>
          </a:p>
          <a:p>
            <a:pPr>
              <a:spcBef>
                <a:spcPts val="400"/>
              </a:spcBef>
              <a:defRPr sz="1100" b="1">
                <a:solidFill>
                  <a:srgbClr val="0F172A"/>
                </a:solidFill>
                <a:latin typeface="Malgun Gothic"/>
              </a:defRPr>
            </a:pPr>
            <a:r>
              <a:t>영상 재생 및 상호작용</a:t>
            </a:r>
          </a:p>
          <a:p>
            <a:pPr>
              <a:spcBef>
                <a:spcPts val="1000"/>
              </a:spcBef>
              <a:defRPr sz="850">
                <a:solidFill>
                  <a:srgbClr val="0F172A"/>
                </a:solidFill>
                <a:latin typeface="Malgun Gothic"/>
              </a:defRPr>
            </a:pPr>
            <a:r>
              <a:t>• 스코어보드 내 [하이라이트] 클릭 시 영상 이동</a:t>
            </a:r>
            <a:br/>
            <a:r>
              <a:t>• Facade 포스터 -&gt; YouTube Iframe 동적 전환</a:t>
            </a:r>
            <a:br/>
            <a:r>
              <a:t>• 무거운 트래픽 지연 없이 즉시 스트리밍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Malgun Gothic"/>
              </a:defRPr>
            </a:pPr>
            <a:r>
              <a:t>06. EXTERNAL API INTEGRATION</a:t>
            </a:r>
          </a:p>
          <a:p>
            <a:pPr>
              <a:spcBef>
                <a:spcPts val="400"/>
              </a:spcBef>
              <a:defRPr sz="2200" b="1">
                <a:solidFill>
                  <a:srgbClr val="0F172A"/>
                </a:solidFill>
                <a:latin typeface="Malgun Gothic"/>
              </a:defRPr>
            </a:pPr>
            <a:r>
              <a:t>외부 데이터 소스 및 실시간 API 연동 명세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6400800"/>
            <a:ext cx="1069848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Malgun Gothic"/>
              </a:defRPr>
            </a:pPr>
            <a:r>
              <a:t>SPORTS HUB v2.1.0  |  실시간 스포츠 종합 대시보드 시스템 명세서  |  Confidential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12064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91639"/>
            <a:ext cx="475488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⚾ 네이버 스포츠 KBO API</a:t>
            </a:r>
          </a:p>
          <a:p>
            <a:pPr>
              <a:spcBef>
                <a:spcPts val="200"/>
              </a:spcBef>
              <a:defRPr sz="850" b="1">
                <a:solidFill>
                  <a:srgbClr val="64748B"/>
                </a:solidFill>
                <a:latin typeface="Consolas"/>
              </a:defRPr>
            </a:pPr>
            <a:r>
              <a:t>https://api-gw.sports.naver.com/schedule/games</a:t>
            </a:r>
          </a:p>
          <a:p>
            <a:pPr>
              <a:spcBef>
                <a:spcPts val="600"/>
              </a:spcBef>
              <a:defRPr sz="850">
                <a:solidFill>
                  <a:srgbClr val="0F172A"/>
                </a:solidFill>
                <a:latin typeface="Malgun Gothic"/>
              </a:defRPr>
            </a:pPr>
            <a:r>
              <a:t>• 연동 방식: HTTP GET, JSON 응답</a:t>
            </a:r>
            <a:br/>
            <a:r>
              <a:t>• 주요 파라미터: fields=basic,baseball&amp;fromDate,toDate&amp;size=100&amp;upperCategoryId=kbaseball</a:t>
            </a:r>
            <a:br/>
            <a:r>
              <a:t>• 수집 항목: 실시간 이닝, statusCode(STARTED/RESULT/BEFORE), 승·패전 결정투수, 선발투수 예고</a:t>
            </a:r>
            <a:br/>
            <a:r>
              <a:t>• 개선 사항: size=100 적용 및 RESULT 상태 판별 수정으로 당일 LIVE 및 어제/내일 경기 완벽 분기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554480"/>
            <a:ext cx="512064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0" y="1691639"/>
            <a:ext cx="475488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🧢 MLB Stats 공식 API</a:t>
            </a:r>
          </a:p>
          <a:p>
            <a:pPr>
              <a:spcBef>
                <a:spcPts val="200"/>
              </a:spcBef>
              <a:defRPr sz="850" b="1">
                <a:solidFill>
                  <a:srgbClr val="64748B"/>
                </a:solidFill>
                <a:latin typeface="Consolas"/>
              </a:defRPr>
            </a:pPr>
            <a:r>
              <a:t>https://statsapi.mlb.com/api/v1/schedule</a:t>
            </a:r>
          </a:p>
          <a:p>
            <a:pPr>
              <a:spcBef>
                <a:spcPts val="600"/>
              </a:spcBef>
              <a:defRPr sz="850">
                <a:solidFill>
                  <a:srgbClr val="0F172A"/>
                </a:solidFill>
                <a:latin typeface="Malgun Gothic"/>
              </a:defRPr>
            </a:pPr>
            <a:r>
              <a:t>• 연동 방식: HTTP GET, RESTful JSON 응답</a:t>
            </a:r>
            <a:br/>
            <a:r>
              <a:t>• 주요 파라미터: sportId=1&amp;startDate,endDate&amp;hydrate=linescore,decisions,probablePitcher</a:t>
            </a:r>
            <a:br/>
            <a:r>
              <a:t>• 수집 항목: 실시간 이닝 스코어보드, 승리(W)·패전(L)·세이브(S) 결정투수, 선발투수 매치업</a:t>
            </a:r>
            <a:br/>
            <a:r>
              <a:t>• 30개 구단 리그/디비전 순위 및 타자/투수 Top 5 리더보드 연동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886200"/>
            <a:ext cx="512064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023360"/>
            <a:ext cx="475488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⚽ K리그 공식 데이터 포털</a:t>
            </a:r>
          </a:p>
          <a:p>
            <a:pPr>
              <a:spcBef>
                <a:spcPts val="200"/>
              </a:spcBef>
              <a:defRPr sz="850" b="1">
                <a:solidFill>
                  <a:srgbClr val="64748B"/>
                </a:solidFill>
                <a:latin typeface="Consolas"/>
              </a:defRPr>
            </a:pPr>
            <a:r>
              <a:t>https://www.kleague.com/getScheduleList.do</a:t>
            </a:r>
          </a:p>
          <a:p>
            <a:pPr>
              <a:spcBef>
                <a:spcPts val="600"/>
              </a:spcBef>
              <a:defRPr sz="850">
                <a:solidFill>
                  <a:srgbClr val="0F172A"/>
                </a:solidFill>
                <a:latin typeface="Malgun Gothic"/>
              </a:defRPr>
            </a:pPr>
            <a:r>
              <a:t>• 연동 방식: HTTP POST, JSON 응답 (Referer 헤더 필수)</a:t>
            </a:r>
            <a:br/>
            <a:r>
              <a:t>• 주요 파라미터: leagueId(1 or 2), year, month</a:t>
            </a:r>
            <a:br/>
            <a:r>
              <a:t>• 주차 필터: 금주 일요일까지 예정된 경기만 '금주 예정' 표기, 지난주 월요일 이후 경기만 종료 표기</a:t>
            </a:r>
            <a:br/>
            <a:r>
              <a:t>• 수집 항목: 전반(1H)/후반(2H) 실시간 분 정보, 경기장, 중계채널, K1/K2 순위 및 득점순위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3886200"/>
            <a:ext cx="512064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4023360"/>
            <a:ext cx="475488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🌍 ESPN Soccer Scoreboard API</a:t>
            </a:r>
          </a:p>
          <a:p>
            <a:pPr>
              <a:spcBef>
                <a:spcPts val="200"/>
              </a:spcBef>
              <a:defRPr sz="850" b="1">
                <a:solidFill>
                  <a:srgbClr val="64748B"/>
                </a:solidFill>
                <a:latin typeface="Consolas"/>
              </a:defRPr>
            </a:pPr>
            <a:r>
              <a:t>https://site.web.api.espn.com/apis/site/v2/sports/soccer/{code}/scoreboard</a:t>
            </a:r>
          </a:p>
          <a:p>
            <a:pPr>
              <a:spcBef>
                <a:spcPts val="600"/>
              </a:spcBef>
              <a:defRPr sz="850">
                <a:solidFill>
                  <a:srgbClr val="0F172A"/>
                </a:solidFill>
                <a:latin typeface="Malgun Gothic"/>
              </a:defRPr>
            </a:pPr>
            <a:r>
              <a:t>• 연동 방식: HTTP GET, JSON 응답</a:t>
            </a:r>
            <a:br/>
            <a:r>
              <a:t>• 동적 캘린더 연동: 지난주부터 금주 주말까지의 핵심 매치일만 동적 추출하여 요청</a:t>
            </a:r>
            <a:br/>
            <a:r>
              <a:t>• 수집 항목: 실시간 스코어, 전·후반 진행시간(displayClock), 경기상태, 하이라이트 영상</a:t>
            </a:r>
            <a:br/>
            <a:r>
              <a:t>• 지원 리그: EPL, 라리가, 분데스리가, UCL, UEL 5개 리그 통합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Malgun Gothic"/>
              </a:defRPr>
            </a:pPr>
            <a:r>
              <a:t>07. DEPLOYMENT &amp; OPERATIONS</a:t>
            </a:r>
          </a:p>
          <a:p>
            <a:pPr>
              <a:spcBef>
                <a:spcPts val="400"/>
              </a:spcBef>
              <a:defRPr sz="2200" b="1">
                <a:solidFill>
                  <a:srgbClr val="0F172A"/>
                </a:solidFill>
                <a:latin typeface="Malgun Gothic"/>
              </a:defRPr>
            </a:pPr>
            <a:r>
              <a:t>시스템 배포 및 운영 유지보수 가이드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6400800"/>
            <a:ext cx="1069848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Malgun Gothic"/>
              </a:defRPr>
            </a:pPr>
            <a:r>
              <a:t>SPORTS HUB v2.1.0  |  실시간 스포츠 종합 대시보드 시스템 명세서  |  Confidential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12064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91639"/>
            <a:ext cx="475488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💻 로컬 개발 및 실행 환경</a:t>
            </a:r>
          </a:p>
          <a:p>
            <a:pPr>
              <a:spcBef>
                <a:spcPts val="6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실행 명령: python run.py</a:t>
            </a:r>
            <a:br/>
            <a:r>
              <a:t>• 기본 바인딩: http://127.0.0.1:8000</a:t>
            </a:r>
            <a:br/>
            <a:r>
              <a:t>• 환경변수 지원:</a:t>
            </a:r>
            <a:br/>
            <a:r>
              <a:t>   - HOST=0.0.0.0 (외부 접속 허용)</a:t>
            </a:r>
            <a:br/>
            <a:r>
              <a:t>   - PORT=8000 (포트 번호 변경)</a:t>
            </a:r>
            <a:br/>
            <a:r>
              <a:t>   - RELOAD=true (코드 수정 시 자동 리로드)</a:t>
            </a:r>
            <a:br/>
            <a:r>
              <a:t>• 자동 캐시 워밍: 서버 기동 시 4대 스포츠 데이터 무결성 자동 검증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554480"/>
            <a:ext cx="512064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0" y="1691639"/>
            <a:ext cx="475488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☁️ 클라우드 프로덕션 배포 (Render.com)</a:t>
            </a:r>
          </a:p>
          <a:p>
            <a:pPr>
              <a:spcBef>
                <a:spcPts val="6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Procfile: web: uvicorn app.main:app --host 0.0.0.0 --port $PORT</a:t>
            </a:r>
            <a:br/>
            <a:r>
              <a:t>• render.yaml: 인프라 코드화(IaC) 사전 구성 완료</a:t>
            </a:r>
            <a:br/>
            <a:r>
              <a:t>• 배포 절차:</a:t>
            </a:r>
            <a:br/>
            <a:r>
              <a:t>   1. GitHub master2 저장소 연결</a:t>
            </a:r>
            <a:br/>
            <a:r>
              <a:t>   2. Build Command: pip install -r requirements.txt</a:t>
            </a:r>
            <a:br/>
            <a:r>
              <a:t>   3. Start Command: uvicorn app.main:app --host 0.0.0.0 --port $PORT</a:t>
            </a:r>
            <a:br/>
            <a:r>
              <a:t>• HTTPS 인증서 자동 발급 및 24시간 무중단 가동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886200"/>
            <a:ext cx="512064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023360"/>
            <a:ext cx="475488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🔄 데이터 갱신 및 유지보수 주기</a:t>
            </a:r>
          </a:p>
          <a:p>
            <a:pPr>
              <a:spcBef>
                <a:spcPts val="6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KBO / MLB (야구):</a:t>
            </a:r>
            <a:br/>
            <a:r>
              <a:t>   - 경기 진행 중: 3~5분 주기 LIVE 스코어보드 갱신</a:t>
            </a:r>
            <a:br/>
            <a:r>
              <a:t>   - 경기 종료 후: 승·패·세이브 투수 영구 저장</a:t>
            </a:r>
            <a:br/>
            <a:r>
              <a:t>• K리그 / 해외축구 (축구):</a:t>
            </a:r>
            <a:br/>
            <a:r>
              <a:t>   - 주말 경기일: 전·후반 실시간 분 정보 갱신</a:t>
            </a:r>
            <a:br/>
            <a:r>
              <a:t>   - 주중: 금주 예정 경기 및 지난주 결과 고정</a:t>
            </a:r>
            <a:br/>
            <a:r>
              <a:t>• 캐시 디렉토리: cache/*.json (Git 형상관리 연동)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3886200"/>
            <a:ext cx="512064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4023360"/>
            <a:ext cx="475488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🔒 안정성 및 장애 대응 전략</a:t>
            </a:r>
          </a:p>
          <a:p>
            <a:pPr>
              <a:spcBef>
                <a:spcPts val="6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Fallback 체계 구축:</a:t>
            </a:r>
            <a:br/>
            <a:r>
              <a:t>   - 네이버 KBO 장애 시 koreabaseball 포털 크롤링</a:t>
            </a:r>
            <a:br/>
            <a:r>
              <a:t>   - ESPN 장애 시 Goal.com 크롤링 대체</a:t>
            </a:r>
            <a:br/>
            <a:r>
              <a:t>• 네트워크 단절 대응:</a:t>
            </a:r>
            <a:br/>
            <a:r>
              <a:t>   - 외부 API 전체 실패 시 기존 정상 캐시 무한 유지</a:t>
            </a:r>
            <a:br/>
            <a:r>
              <a:t>• 클라이언트 오류 격리:</a:t>
            </a:r>
            <a:br/>
            <a:r>
              <a:t>   - 종목별 렌더링 함수 독립 분리로 한 종목 에러가 타 종목에 미치는 영향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